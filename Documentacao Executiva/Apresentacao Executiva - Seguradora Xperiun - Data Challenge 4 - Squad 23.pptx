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14F"/>
    <a:srgbClr val="009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4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9EEC"/>
              </a:gs>
              <a:gs pos="80000">
                <a:srgbClr val="01214F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3" name="Picture 2" descr="Logo Seguradora Xperiun 3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828800" cy="12169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8820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Diagnóstico Analítico &amp; Caminhos para Retenção Sustentável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39101"/>
            <a:ext cx="8820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A9CE5"/>
                </a:solidFill>
                <a:latin typeface="Segoe UI"/>
              </a:defRPr>
            </a:pPr>
            <a:r>
              <a:rPr lang="pt-BR" noProof="0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 diagnóstico descritivo à ação preditiva:</a:t>
            </a:r>
            <a:br>
              <a:rPr lang="pt-BR" noProof="0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pt-BR" noProof="0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Como reduzir a perda de R$ 71,7 milhões em receita recorrente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12524"/>
            <a:ext cx="8820150" cy="1769745"/>
          </a:xfrm>
          <a:prstGeom prst="roundRect">
            <a:avLst/>
          </a:prstGeom>
          <a:solidFill>
            <a:srgbClr val="002D64"/>
          </a:solidFill>
          <a:ln w="19050">
            <a:solidFill>
              <a:srgbClr val="0A9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A9CE5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 DESAFIO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16,41% das apólices gerenciáveis são canceladas voluntariamente antes da vigência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R$ 71,7 milhões em gap de receita evitável — 89% dos cancelamentos são gerenciáveis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Canal Digital traz maior margem (95%), mas também maior </a:t>
            </a:r>
            <a:r>
              <a:rPr lang="pt-BR" sz="1400" noProof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: clientes entram fácil, saem fácil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Sem predição, a retenção é reativa. Com o modelo, passa a ser proativa.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Segoe UI"/>
              </a:defRPr>
            </a:pPr>
            <a:r>
              <a:rPr lang="pt-BR" sz="1100" noProof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Seguradora </a:t>
            </a:r>
            <a:r>
              <a:rPr lang="pt-BR" sz="1100" noProof="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·  MBA </a:t>
            </a:r>
            <a:r>
              <a:rPr lang="pt-BR" sz="1100" noProof="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Data </a:t>
            </a:r>
            <a:r>
              <a:rPr lang="pt-BR" sz="1100" noProof="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</a:t>
            </a:r>
            <a:r>
              <a:rPr lang="pt-BR" sz="1100" noProof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4  ·  </a:t>
            </a:r>
            <a:r>
              <a:rPr lang="pt-BR" sz="1100" noProof="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Squad</a:t>
            </a:r>
            <a:r>
              <a:rPr lang="pt-BR" sz="1100" noProof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23  ·  Maio/2026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gradFill flip="none" rotWithShape="1">
            <a:gsLst>
              <a:gs pos="0">
                <a:srgbClr val="009EEC"/>
              </a:gs>
              <a:gs pos="85000">
                <a:srgbClr val="01214F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pt-BR" noProof="0" dirty="0"/>
              <a:t>Visão Executiva da Carteira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5603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2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204F"/>
                </a:solidFill>
              </a:defRPr>
            </a:pPr>
            <a:r>
              <a:rPr lang="pt-BR" noProof="0" dirty="0"/>
              <a:t>R$ 384,9M</a:t>
            </a:r>
          </a:p>
          <a:p>
            <a:pPr algn="ctr">
              <a:defRPr sz="1000">
                <a:solidFill>
                  <a:srgbClr val="7F8C8D"/>
                </a:solidFill>
              </a:defRPr>
            </a:pPr>
            <a:r>
              <a:rPr lang="pt-BR" noProof="0" dirty="0"/>
              <a:t>Receita Esperada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5603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E74C3C"/>
                </a:solidFill>
              </a:defRPr>
            </a:pPr>
            <a:r>
              <a:rPr lang="pt-BR" noProof="0" dirty="0"/>
              <a:t>R$ 71,7M</a:t>
            </a:r>
          </a:p>
          <a:p>
            <a:pPr algn="ctr">
              <a:defRPr sz="1000">
                <a:solidFill>
                  <a:srgbClr val="7F8C8D"/>
                </a:solidFill>
              </a:defRPr>
            </a:pPr>
            <a:r>
              <a:rPr lang="pt-BR" noProof="0" dirty="0"/>
              <a:t>Gap </a:t>
            </a:r>
            <a:r>
              <a:rPr lang="pt-BR" noProof="0" dirty="0" err="1"/>
              <a:t>Churn</a:t>
            </a:r>
            <a:r>
              <a:rPr lang="pt-BR" noProof="0" dirty="0"/>
              <a:t> Gerenciável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25603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39C12"/>
                </a:solidFill>
              </a:defRPr>
            </a:pPr>
            <a:r>
              <a:rPr lang="pt-BR" noProof="0" dirty="0"/>
              <a:t>16,41%</a:t>
            </a:r>
          </a:p>
          <a:p>
            <a:pPr algn="ctr">
              <a:defRPr sz="1000">
                <a:solidFill>
                  <a:srgbClr val="7F8C8D"/>
                </a:solidFill>
              </a:defRPr>
            </a:pPr>
            <a:r>
              <a:rPr lang="pt-BR" noProof="0" dirty="0"/>
              <a:t>Taxa </a:t>
            </a:r>
            <a:r>
              <a:rPr lang="pt-BR" noProof="0" dirty="0" err="1"/>
              <a:t>Churn</a:t>
            </a:r>
            <a:r>
              <a:rPr lang="pt-BR" noProof="0" dirty="0"/>
              <a:t> Evitável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097280"/>
            <a:ext cx="2560320" cy="1005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9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A9CE5"/>
                </a:solidFill>
              </a:defRPr>
            </a:pPr>
            <a:r>
              <a:rPr lang="pt-BR" noProof="0" dirty="0"/>
              <a:t>R$ 17,8M</a:t>
            </a:r>
          </a:p>
          <a:p>
            <a:pPr algn="ctr">
              <a:defRPr sz="1000">
                <a:solidFill>
                  <a:srgbClr val="7F8C8D"/>
                </a:solidFill>
              </a:defRPr>
            </a:pPr>
            <a:r>
              <a:rPr lang="pt-BR" noProof="0" dirty="0"/>
              <a:t>Receita em Risco (Alto Risco)</a:t>
            </a:r>
          </a:p>
        </p:txBody>
      </p:sp>
      <p:pic>
        <p:nvPicPr>
          <p:cNvPr id="10" name="Picture 9" descr="fig_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10815"/>
            <a:ext cx="5303520" cy="39957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0" y="2971321"/>
            <a:ext cx="5669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0A9CE5"/>
                </a:solidFill>
              </a:defRPr>
            </a:pPr>
            <a:r>
              <a:rPr lang="pt-BR" sz="12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 ESTRATÉGICO</a:t>
            </a:r>
          </a:p>
          <a:p>
            <a:pPr algn="just">
              <a:spcAft>
                <a:spcPts val="1000"/>
              </a:spcAft>
              <a:defRPr sz="1300">
                <a:solidFill>
                  <a:srgbClr val="00204F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→ A distinção entre cancelamento total (18,42%) e </a:t>
            </a:r>
            <a:r>
              <a:rPr lang="pt-BR" sz="1400" noProof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gerenciável (16,41%) muda o diagnóstico: o problema não é o volume, mas a concentração em segmentos específicos.</a:t>
            </a:r>
          </a:p>
          <a:p>
            <a:pPr algn="just">
              <a:spcAft>
                <a:spcPts val="1000"/>
              </a:spcAft>
              <a:defRPr sz="1300">
                <a:solidFill>
                  <a:srgbClr val="00204F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→ 89% dos cancelamentos são evitáveis. Falecimentos e vendas de bens (2%) devem ser isolados para não distorcer metas de retenção.</a:t>
            </a:r>
          </a:p>
          <a:p>
            <a:pPr algn="just">
              <a:spcAft>
                <a:spcPts val="1000"/>
              </a:spcAft>
              <a:defRPr sz="1300">
                <a:solidFill>
                  <a:srgbClr val="00204F"/>
                </a:solidFill>
              </a:defRPr>
            </a:pPr>
            <a:r>
              <a:rPr lang="pt-BR" sz="14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→ 410 apólices suspensas (R$ 993k) representam recuperação imediata de caixa - são inadimplência, não insatisfação.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6A3261F-1F83-9249-103A-8CD5D15BE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675" y="1"/>
            <a:ext cx="1457020" cy="819008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FAAFA475-DA39-A35E-2D4F-626D0B7FA909}"/>
              </a:ext>
            </a:extLst>
          </p:cNvPr>
          <p:cNvSpPr txBox="1"/>
          <p:nvPr/>
        </p:nvSpPr>
        <p:spPr>
          <a:xfrm>
            <a:off x="66675" y="2313094"/>
            <a:ext cx="12087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Segoe UI"/>
              </a:defRPr>
            </a:pPr>
            <a:r>
              <a:rPr lang="pt-BR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Período: Jan 2020 – Set 2025 | 119.996 Apólices (24,796 Clientes) | 19.693 </a:t>
            </a:r>
            <a:r>
              <a:rPr lang="pt-BR" noProof="0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Churns</a:t>
            </a:r>
            <a:r>
              <a:rPr lang="pt-BR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(13.407 Clientes) | </a:t>
            </a:r>
            <a:r>
              <a:rPr lang="pt-BR" noProof="0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 16,41%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197FBF2-351E-3648-38F5-13454F05F2EB}"/>
              </a:ext>
            </a:extLst>
          </p:cNvPr>
          <p:cNvSpPr txBox="1"/>
          <p:nvPr/>
        </p:nvSpPr>
        <p:spPr>
          <a:xfrm>
            <a:off x="6705600" y="659639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Segoe UI"/>
              </a:defRPr>
            </a:pP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Seguradora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·  MBA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Data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4  · 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Squad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23  ·  Maio/2026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287B65E-37FB-974E-05FA-669CEF1D0322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gradFill flip="none" rotWithShape="1">
            <a:gsLst>
              <a:gs pos="0">
                <a:srgbClr val="009EEC"/>
              </a:gs>
              <a:gs pos="85000">
                <a:srgbClr val="01214F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pt-BR" noProof="0" dirty="0"/>
              <a:t>A Cascata Financeira - De R$ 384,9M a R$ 276,1M</a:t>
            </a:r>
          </a:p>
        </p:txBody>
      </p:sp>
      <p:pic>
        <p:nvPicPr>
          <p:cNvPr id="9" name="Picture 8" descr="Figura_Waterfall.png"/>
          <p:cNvPicPr>
            <a:picLocks noChangeAspect="1"/>
          </p:cNvPicPr>
          <p:nvPr/>
        </p:nvPicPr>
        <p:blipFill>
          <a:blip r:embed="rId2"/>
          <a:srcRect l="6592" r="7012"/>
          <a:stretch>
            <a:fillRect/>
          </a:stretch>
        </p:blipFill>
        <p:spPr>
          <a:xfrm>
            <a:off x="66675" y="902969"/>
            <a:ext cx="9620250" cy="30484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94891EC-C923-5FFF-FB27-6AA810A8D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675" y="1"/>
            <a:ext cx="1457020" cy="8190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8CF6D66-8E96-AD78-47FC-378EF8B1F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002" y="902968"/>
            <a:ext cx="2495898" cy="3048425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DD90E2F9-53F3-3DC3-D521-5059851D28C3}"/>
              </a:ext>
            </a:extLst>
          </p:cNvPr>
          <p:cNvSpPr txBox="1"/>
          <p:nvPr/>
        </p:nvSpPr>
        <p:spPr>
          <a:xfrm>
            <a:off x="66675" y="3951394"/>
            <a:ext cx="120872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Segoe UI"/>
              </a:defRPr>
            </a:pPr>
            <a:r>
              <a:rPr lang="pt-BR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Período: Jan 2020 – Set 2025 | 119.996 Apólices (24,796 Clientes) | 19.693 </a:t>
            </a:r>
            <a:r>
              <a:rPr lang="pt-BR" noProof="0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Churns</a:t>
            </a:r>
            <a:r>
              <a:rPr lang="pt-BR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(13.407 Clientes) | </a:t>
            </a:r>
            <a:r>
              <a:rPr lang="pt-BR" noProof="0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 16,41% (</a:t>
            </a:r>
            <a:r>
              <a:rPr lang="pt-BR" noProof="0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em quantidade)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EDA8F54-5217-2E67-C336-D57631670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" y="4321473"/>
            <a:ext cx="5095875" cy="242697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D58B5A3-7BB1-C857-46F2-5FC283B799D4}"/>
              </a:ext>
            </a:extLst>
          </p:cNvPr>
          <p:cNvSpPr txBox="1"/>
          <p:nvPr/>
        </p:nvSpPr>
        <p:spPr>
          <a:xfrm>
            <a:off x="5524500" y="4465781"/>
            <a:ext cx="6486525" cy="2123658"/>
          </a:xfrm>
          <a:prstGeom prst="rect">
            <a:avLst/>
          </a:prstGeom>
          <a:solidFill>
            <a:srgbClr val="01214F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200" noProof="0" dirty="0">
                <a:solidFill>
                  <a:srgbClr val="009EEC"/>
                </a:solidFill>
              </a:rPr>
              <a:t>"</a:t>
            </a:r>
            <a:r>
              <a:rPr lang="pt-BR" sz="1200" noProof="0" dirty="0">
                <a:solidFill>
                  <a:schemeClr val="bg1"/>
                </a:solidFill>
              </a:rPr>
              <a:t>Preço Alto</a:t>
            </a:r>
            <a:r>
              <a:rPr lang="pt-BR" sz="1200" noProof="0" dirty="0">
                <a:solidFill>
                  <a:srgbClr val="009EEC"/>
                </a:solidFill>
              </a:rPr>
              <a:t>" &amp; "</a:t>
            </a:r>
            <a:r>
              <a:rPr lang="pt-BR" sz="1200" noProof="0" dirty="0">
                <a:solidFill>
                  <a:schemeClr val="bg1"/>
                </a:solidFill>
              </a:rPr>
              <a:t>Dificuldade financeira</a:t>
            </a:r>
            <a:r>
              <a:rPr lang="pt-BR" sz="1200" noProof="0" dirty="0">
                <a:solidFill>
                  <a:srgbClr val="009EEC"/>
                </a:solidFill>
              </a:rPr>
              <a:t>" -&gt; Ressaltam a necessidade de um ligeiro aumento de margem em coberturas que não sejam as básicas para poder tornar as margens da cobertura básica mais competitivas.</a:t>
            </a:r>
          </a:p>
          <a:p>
            <a:pPr>
              <a:buNone/>
            </a:pPr>
            <a:endParaRPr lang="pt-BR" sz="1200" noProof="0" dirty="0">
              <a:solidFill>
                <a:srgbClr val="009EEC"/>
              </a:solidFill>
            </a:endParaRPr>
          </a:p>
          <a:p>
            <a:pPr>
              <a:buNone/>
            </a:pPr>
            <a:r>
              <a:rPr lang="pt-BR" sz="1200" noProof="0" dirty="0">
                <a:solidFill>
                  <a:srgbClr val="009EEC"/>
                </a:solidFill>
              </a:rPr>
              <a:t>"</a:t>
            </a:r>
            <a:r>
              <a:rPr lang="pt-BR" sz="1200" noProof="0" dirty="0">
                <a:solidFill>
                  <a:schemeClr val="bg1"/>
                </a:solidFill>
              </a:rPr>
              <a:t>Mudou para concorrência</a:t>
            </a:r>
            <a:r>
              <a:rPr lang="pt-BR" sz="1200" noProof="0" dirty="0">
                <a:solidFill>
                  <a:srgbClr val="009EEC"/>
                </a:solidFill>
              </a:rPr>
              <a:t>" &amp; "</a:t>
            </a:r>
            <a:r>
              <a:rPr lang="pt-BR" sz="1200" noProof="0" dirty="0">
                <a:solidFill>
                  <a:schemeClr val="bg1"/>
                </a:solidFill>
              </a:rPr>
              <a:t>Não informado</a:t>
            </a:r>
            <a:r>
              <a:rPr lang="pt-BR" sz="1200" noProof="0" dirty="0">
                <a:solidFill>
                  <a:srgbClr val="009EEC"/>
                </a:solidFill>
              </a:rPr>
              <a:t>"-&gt; Ressaltam a necessidade de ter uma célula de entrevistas pós-</a:t>
            </a:r>
            <a:r>
              <a:rPr lang="pt-BR" sz="1200" noProof="0" dirty="0" err="1">
                <a:solidFill>
                  <a:srgbClr val="009EEC"/>
                </a:solidFill>
              </a:rPr>
              <a:t>churn</a:t>
            </a:r>
            <a:r>
              <a:rPr lang="pt-BR" sz="1200" noProof="0" dirty="0">
                <a:solidFill>
                  <a:srgbClr val="009EEC"/>
                </a:solidFill>
              </a:rPr>
              <a:t> para aprofundar os motivos e orientar novas ações.</a:t>
            </a:r>
          </a:p>
          <a:p>
            <a:pPr>
              <a:buNone/>
            </a:pPr>
            <a:endParaRPr lang="pt-BR" sz="1200" noProof="0" dirty="0">
              <a:solidFill>
                <a:srgbClr val="009EEC"/>
              </a:solidFill>
            </a:endParaRPr>
          </a:p>
          <a:p>
            <a:pPr>
              <a:buNone/>
            </a:pPr>
            <a:r>
              <a:rPr lang="pt-BR" sz="1200" noProof="0" dirty="0">
                <a:solidFill>
                  <a:srgbClr val="009EEC"/>
                </a:solidFill>
              </a:rPr>
              <a:t>"</a:t>
            </a:r>
            <a:r>
              <a:rPr lang="pt-BR" sz="1200" noProof="0" dirty="0">
                <a:solidFill>
                  <a:schemeClr val="bg1"/>
                </a:solidFill>
              </a:rPr>
              <a:t>Não usa / não precisa mais</a:t>
            </a:r>
            <a:r>
              <a:rPr lang="pt-BR" sz="1200" noProof="0" dirty="0">
                <a:solidFill>
                  <a:srgbClr val="009EEC"/>
                </a:solidFill>
              </a:rPr>
              <a:t>" &amp; "</a:t>
            </a:r>
            <a:r>
              <a:rPr lang="pt-BR" sz="1200" noProof="0" dirty="0">
                <a:solidFill>
                  <a:schemeClr val="bg1"/>
                </a:solidFill>
              </a:rPr>
              <a:t>Insatisfação com atendimento</a:t>
            </a:r>
            <a:r>
              <a:rPr lang="pt-BR" sz="1200" noProof="0" dirty="0">
                <a:solidFill>
                  <a:srgbClr val="009EEC"/>
                </a:solidFill>
              </a:rPr>
              <a:t>" -&gt; Ressaltam a necessidade de se melhorar urgentemente o pós-venda e a atenção ao segurado.</a:t>
            </a:r>
            <a:br>
              <a:rPr lang="pt-BR" sz="1200" noProof="0" dirty="0">
                <a:solidFill>
                  <a:srgbClr val="009EEC"/>
                </a:solidFill>
              </a:rPr>
            </a:br>
            <a:br>
              <a:rPr lang="pt-BR" sz="1200" noProof="0" dirty="0">
                <a:solidFill>
                  <a:srgbClr val="009EEC"/>
                </a:solidFill>
              </a:rPr>
            </a:br>
            <a:r>
              <a:rPr lang="pt-BR" sz="1200" noProof="0" dirty="0">
                <a:solidFill>
                  <a:schemeClr val="accent6"/>
                </a:solidFill>
              </a:rPr>
              <a:t>Obs.: O “Gap Receita” ao lado envolve o Gap Estrutural + Gap </a:t>
            </a:r>
            <a:r>
              <a:rPr lang="pt-BR" sz="1200" noProof="0" dirty="0" err="1">
                <a:solidFill>
                  <a:schemeClr val="accent6"/>
                </a:solidFill>
              </a:rPr>
              <a:t>Churn</a:t>
            </a:r>
            <a:r>
              <a:rPr lang="pt-BR" sz="1200" noProof="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BA7F64D5-5933-BF8F-6681-FF4330944876}"/>
              </a:ext>
            </a:extLst>
          </p:cNvPr>
          <p:cNvSpPr txBox="1"/>
          <p:nvPr/>
        </p:nvSpPr>
        <p:spPr>
          <a:xfrm>
            <a:off x="6705600" y="659639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Segoe UI"/>
              </a:defRPr>
            </a:pP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Seguradora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·  MBA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Data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4  · 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Squad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23  ·  Maio/2026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85A5F2F-5465-96DF-FE7F-B0F9CA58F1D3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gradFill flip="none" rotWithShape="1">
            <a:gsLst>
              <a:gs pos="0">
                <a:srgbClr val="009EEC"/>
              </a:gs>
              <a:gs pos="85000">
                <a:srgbClr val="01214F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pt-BR" noProof="0" dirty="0"/>
              <a:t>Os Insights: 5 Descobertas que Mudam a Decisão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3092668-4D64-C5BE-7B7A-3A761E7F3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675" y="1"/>
            <a:ext cx="1457020" cy="819008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FFFBFE91-DAAA-7BAE-46EB-967DC77B8841}"/>
              </a:ext>
            </a:extLst>
          </p:cNvPr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pt-BR" sz="1600" b="0" i="1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Achados que a diretoria precisa ver </a:t>
            </a:r>
            <a:r>
              <a:rPr lang="pt-BR" sz="1600" i="1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</a:t>
            </a:r>
            <a:r>
              <a:rPr lang="pt-BR" sz="1600" b="0" i="1" noProof="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respaldados pelos dados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7A8AA90B-F566-2374-889E-2864A156466B}"/>
              </a:ext>
            </a:extLst>
          </p:cNvPr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6411146D-7EBD-AE98-A44D-C85017A5F699}"/>
              </a:ext>
            </a:extLst>
          </p:cNvPr>
          <p:cNvSpPr/>
          <p:nvPr/>
        </p:nvSpPr>
        <p:spPr>
          <a:xfrm>
            <a:off x="365760" y="1417320"/>
            <a:ext cx="457200" cy="804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F17E0C9D-EE2F-86CC-D950-6AEDD2C24B33}"/>
              </a:ext>
            </a:extLst>
          </p:cNvPr>
          <p:cNvSpPr txBox="1"/>
          <p:nvPr/>
        </p:nvSpPr>
        <p:spPr>
          <a:xfrm>
            <a:off x="365760" y="161848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pt-BR" sz="2000" b="1" i="0" noProof="0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F3EF6ABD-B9F3-5824-6139-7D3A8CB0A29E}"/>
              </a:ext>
            </a:extLst>
          </p:cNvPr>
          <p:cNvSpPr/>
          <p:nvPr/>
        </p:nvSpPr>
        <p:spPr>
          <a:xfrm>
            <a:off x="868680" y="1417320"/>
            <a:ext cx="10954512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905B837-C7E5-52E8-6E4F-E66664477B63}"/>
              </a:ext>
            </a:extLst>
          </p:cNvPr>
          <p:cNvSpPr txBox="1"/>
          <p:nvPr/>
        </p:nvSpPr>
        <p:spPr>
          <a:xfrm>
            <a:off x="1005840" y="165963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pt-BR" sz="1400" b="1" i="0" noProof="0" dirty="0">
                <a:solidFill>
                  <a:srgbClr val="C0392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Jovens + Digital = Bomba-Relógio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F67B3602-D2AD-DDFC-6C02-6F76207610A5}"/>
              </a:ext>
            </a:extLst>
          </p:cNvPr>
          <p:cNvSpPr txBox="1"/>
          <p:nvPr/>
        </p:nvSpPr>
        <p:spPr>
          <a:xfrm>
            <a:off x="5760720" y="1463040"/>
            <a:ext cx="59710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Clientes de 18-25 anos no canal digital têm 24,6% de </a:t>
            </a:r>
            <a:r>
              <a:rPr lang="pt-BR" sz="1200" b="0" i="0" noProof="0" dirty="0" err="1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: </a:t>
            </a:r>
            <a:r>
              <a:rPr lang="pt-BR" sz="120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8%</a:t>
            </a:r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acima da média. São o segmento com maior taxa de cancelamento e respondem por parte relevante das novas apólices.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986E9A2A-F397-D9C0-5848-4DF3E27BCDD7}"/>
              </a:ext>
            </a:extLst>
          </p:cNvPr>
          <p:cNvSpPr/>
          <p:nvPr/>
        </p:nvSpPr>
        <p:spPr>
          <a:xfrm>
            <a:off x="365760" y="2377440"/>
            <a:ext cx="457200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A90DD88-56A2-010F-2628-032B03BDD37C}"/>
              </a:ext>
            </a:extLst>
          </p:cNvPr>
          <p:cNvSpPr txBox="1"/>
          <p:nvPr/>
        </p:nvSpPr>
        <p:spPr>
          <a:xfrm>
            <a:off x="365760" y="257860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pt-BR" sz="2000" b="1" i="0" noProof="0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B1D7C99E-597E-D754-D36C-1528268A657B}"/>
              </a:ext>
            </a:extLst>
          </p:cNvPr>
          <p:cNvSpPr/>
          <p:nvPr/>
        </p:nvSpPr>
        <p:spPr>
          <a:xfrm>
            <a:off x="868680" y="2377440"/>
            <a:ext cx="10954512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4B945BCD-0795-1E7C-250A-942ABCD660A3}"/>
              </a:ext>
            </a:extLst>
          </p:cNvPr>
          <p:cNvSpPr txBox="1"/>
          <p:nvPr/>
        </p:nvSpPr>
        <p:spPr>
          <a:xfrm>
            <a:off x="1005840" y="261975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pt-BR" sz="1400" b="1" i="0" noProof="0" dirty="0">
                <a:solidFill>
                  <a:srgbClr val="E67E2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13º mês é o ponto crítico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03AD62D4-1D9E-1521-231D-EFA1425A9E67}"/>
              </a:ext>
            </a:extLst>
          </p:cNvPr>
          <p:cNvSpPr txBox="1"/>
          <p:nvPr/>
        </p:nvSpPr>
        <p:spPr>
          <a:xfrm>
            <a:off x="5760720" y="2423160"/>
            <a:ext cx="59710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tempo médio até o cancelamento é de 13,0 meses - próximo à primeira renovação anual. Se nenhuma ação de retenção ocorre antes desse marco, o cliente tende a não renovar.</a:t>
            </a:r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DA0E195F-9890-B8CA-266B-F95754534AD1}"/>
              </a:ext>
            </a:extLst>
          </p:cNvPr>
          <p:cNvSpPr/>
          <p:nvPr/>
        </p:nvSpPr>
        <p:spPr>
          <a:xfrm>
            <a:off x="365760" y="3337560"/>
            <a:ext cx="45720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1F93370A-B47C-2692-A931-4C0AC7D3F14E}"/>
              </a:ext>
            </a:extLst>
          </p:cNvPr>
          <p:cNvSpPr txBox="1"/>
          <p:nvPr/>
        </p:nvSpPr>
        <p:spPr>
          <a:xfrm>
            <a:off x="365760" y="353872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pt-BR" sz="2000" b="1" i="0" noProof="0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AB6D3017-7A72-F6E0-3695-602FAE3CD2A0}"/>
              </a:ext>
            </a:extLst>
          </p:cNvPr>
          <p:cNvSpPr/>
          <p:nvPr/>
        </p:nvSpPr>
        <p:spPr>
          <a:xfrm>
            <a:off x="868680" y="3337560"/>
            <a:ext cx="10954512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4522888A-3C23-B320-52B2-11B87ACA2198}"/>
              </a:ext>
            </a:extLst>
          </p:cNvPr>
          <p:cNvSpPr txBox="1"/>
          <p:nvPr/>
        </p:nvSpPr>
        <p:spPr>
          <a:xfrm>
            <a:off x="1005840" y="357987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pt-BR" sz="1400" b="1" i="0" noProof="0" dirty="0">
                <a:solidFill>
                  <a:srgbClr val="2E75B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Cobertura Básica é porta de entrada — e de saída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64FE28FC-4225-9EC8-0999-361E405BC3E1}"/>
              </a:ext>
            </a:extLst>
          </p:cNvPr>
          <p:cNvSpPr txBox="1"/>
          <p:nvPr/>
        </p:nvSpPr>
        <p:spPr>
          <a:xfrm>
            <a:off x="5760720" y="3383280"/>
            <a:ext cx="59710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cobertura Básica concentra o maior volume e ao mesmo tempo a maior taxa de </a:t>
            </a:r>
            <a:r>
              <a:rPr lang="pt-BR" sz="1200" b="0" i="0" noProof="0" dirty="0" err="1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 O cliente entrou por preço e sai pelo mesmo motivo.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49158090-A418-E340-F6D2-3338B529F00C}"/>
              </a:ext>
            </a:extLst>
          </p:cNvPr>
          <p:cNvSpPr/>
          <p:nvPr/>
        </p:nvSpPr>
        <p:spPr>
          <a:xfrm>
            <a:off x="365760" y="4297680"/>
            <a:ext cx="45720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E57130B9-21DA-7275-8BA0-C60E102580AB}"/>
              </a:ext>
            </a:extLst>
          </p:cNvPr>
          <p:cNvSpPr txBox="1"/>
          <p:nvPr/>
        </p:nvSpPr>
        <p:spPr>
          <a:xfrm>
            <a:off x="365760" y="449884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pt-BR" sz="2000" b="1" i="0" noProof="0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3B91F0BF-CB6C-6C21-0FD9-6C2470C19CAB}"/>
              </a:ext>
            </a:extLst>
          </p:cNvPr>
          <p:cNvSpPr/>
          <p:nvPr/>
        </p:nvSpPr>
        <p:spPr>
          <a:xfrm>
            <a:off x="868680" y="4297680"/>
            <a:ext cx="10954512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26">
            <a:extLst>
              <a:ext uri="{FF2B5EF4-FFF2-40B4-BE49-F238E27FC236}">
                <a16:creationId xmlns:a16="http://schemas.microsoft.com/office/drawing/2014/main" id="{22CA6F87-33E1-032D-2522-B29DE48E0CB9}"/>
              </a:ext>
            </a:extLst>
          </p:cNvPr>
          <p:cNvSpPr txBox="1"/>
          <p:nvPr/>
        </p:nvSpPr>
        <p:spPr>
          <a:xfrm>
            <a:off x="1005840" y="453999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pt-BR" sz="1400" b="1" i="0" noProof="0" dirty="0">
                <a:solidFill>
                  <a:srgbClr val="27AE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Corretor retém melhor — e custa menos em </a:t>
            </a:r>
            <a:r>
              <a:rPr lang="pt-BR" sz="1400" b="1" i="0" noProof="0" dirty="0" err="1">
                <a:solidFill>
                  <a:srgbClr val="27AE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endParaRPr lang="pt-BR" sz="1400" b="1" i="0" noProof="0" dirty="0">
              <a:solidFill>
                <a:srgbClr val="27AE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4A1C5B50-428F-0C1D-7A96-B4DB7DEFD3B5}"/>
              </a:ext>
            </a:extLst>
          </p:cNvPr>
          <p:cNvSpPr txBox="1"/>
          <p:nvPr/>
        </p:nvSpPr>
        <p:spPr>
          <a:xfrm>
            <a:off x="5760720" y="4343400"/>
            <a:ext cx="59710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Apesar da comissão, o canal corretor retém ~10pp a mais. A comissão "cara" do corretor é mais barata que o custo do </a:t>
            </a:r>
            <a:r>
              <a:rPr lang="pt-BR" sz="1200" b="0" i="0" noProof="0" dirty="0" err="1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no digital.</a:t>
            </a:r>
          </a:p>
        </p:txBody>
      </p:sp>
      <p:sp>
        <p:nvSpPr>
          <p:cNvPr id="33" name="Rectangle 28">
            <a:extLst>
              <a:ext uri="{FF2B5EF4-FFF2-40B4-BE49-F238E27FC236}">
                <a16:creationId xmlns:a16="http://schemas.microsoft.com/office/drawing/2014/main" id="{44908472-BA8C-83B0-98BD-73DD01ACC3CA}"/>
              </a:ext>
            </a:extLst>
          </p:cNvPr>
          <p:cNvSpPr/>
          <p:nvPr/>
        </p:nvSpPr>
        <p:spPr>
          <a:xfrm>
            <a:off x="365760" y="5257800"/>
            <a:ext cx="457200" cy="8046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29">
            <a:extLst>
              <a:ext uri="{FF2B5EF4-FFF2-40B4-BE49-F238E27FC236}">
                <a16:creationId xmlns:a16="http://schemas.microsoft.com/office/drawing/2014/main" id="{F717391F-9E05-0A58-7BED-6B3A09D9420A}"/>
              </a:ext>
            </a:extLst>
          </p:cNvPr>
          <p:cNvSpPr txBox="1"/>
          <p:nvPr/>
        </p:nvSpPr>
        <p:spPr>
          <a:xfrm>
            <a:off x="365760" y="545896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pt-BR" sz="2000" b="1" i="0" noProof="0" dirty="0">
                <a:solidFill>
                  <a:srgbClr val="FF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</a:t>
            </a:r>
          </a:p>
        </p:txBody>
      </p:sp>
      <p:sp>
        <p:nvSpPr>
          <p:cNvPr id="35" name="Rectangle 30">
            <a:extLst>
              <a:ext uri="{FF2B5EF4-FFF2-40B4-BE49-F238E27FC236}">
                <a16:creationId xmlns:a16="http://schemas.microsoft.com/office/drawing/2014/main" id="{9304A6F7-0CAA-5973-2D6F-71F5EDC449EF}"/>
              </a:ext>
            </a:extLst>
          </p:cNvPr>
          <p:cNvSpPr/>
          <p:nvPr/>
        </p:nvSpPr>
        <p:spPr>
          <a:xfrm>
            <a:off x="868680" y="5257800"/>
            <a:ext cx="10954512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TextBox 31">
            <a:extLst>
              <a:ext uri="{FF2B5EF4-FFF2-40B4-BE49-F238E27FC236}">
                <a16:creationId xmlns:a16="http://schemas.microsoft.com/office/drawing/2014/main" id="{244A6ADC-08B5-13E9-3F2C-380843258D7A}"/>
              </a:ext>
            </a:extLst>
          </p:cNvPr>
          <p:cNvSpPr txBox="1"/>
          <p:nvPr/>
        </p:nvSpPr>
        <p:spPr>
          <a:xfrm>
            <a:off x="1005840" y="550011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pt-BR" sz="1400" b="1" i="0" noProof="0" dirty="0">
                <a:solidFill>
                  <a:srgbClr val="8E44A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Clientes com 2+ apólices quase não cancelam</a:t>
            </a: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67082605-54E2-53B3-1D9E-C37A973FA4DB}"/>
              </a:ext>
            </a:extLst>
          </p:cNvPr>
          <p:cNvSpPr txBox="1"/>
          <p:nvPr/>
        </p:nvSpPr>
        <p:spPr>
          <a:xfrm>
            <a:off x="5760720" y="5303520"/>
            <a:ext cx="59710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Clientes </a:t>
            </a:r>
            <a:r>
              <a:rPr lang="pt-BR" sz="1200" b="0" i="0" noProof="0" dirty="0" err="1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cross-sell</a:t>
            </a:r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têm </a:t>
            </a:r>
            <a:r>
              <a:rPr lang="pt-BR" sz="1200" b="0" i="0" noProof="0" dirty="0" err="1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60% menor. Cross-</a:t>
            </a:r>
            <a:r>
              <a:rPr lang="pt-BR" sz="1200" b="0" i="0" noProof="0" dirty="0" err="1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sell</a:t>
            </a:r>
            <a:r>
              <a:rPr lang="pt-BR" sz="1200" b="0" i="0" noProof="0" dirty="0">
                <a:solidFill>
                  <a:srgbClr val="45454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não é apenas receita — é a melhor alavanca de retenção.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0473E231-C71B-A822-5057-255139B9415D}"/>
              </a:ext>
            </a:extLst>
          </p:cNvPr>
          <p:cNvSpPr txBox="1"/>
          <p:nvPr/>
        </p:nvSpPr>
        <p:spPr>
          <a:xfrm>
            <a:off x="6705600" y="659639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Segoe UI"/>
              </a:defRPr>
            </a:pP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Seguradora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·  MBA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Data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4  · 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Squad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23  ·  Maio/2026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DB38D4E-0017-A9D4-FAD6-B0C5C43716A8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gradFill flip="none" rotWithShape="1">
            <a:gsLst>
              <a:gs pos="0">
                <a:srgbClr val="009EEC"/>
              </a:gs>
              <a:gs pos="85000">
                <a:srgbClr val="01214F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pt-BR" noProof="0" dirty="0"/>
              <a:t>Propostas para Mitigação do </a:t>
            </a:r>
            <a:r>
              <a:rPr lang="pt-BR" noProof="0" dirty="0" err="1"/>
              <a:t>Churn</a:t>
            </a:r>
            <a:endParaRPr lang="pt-BR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56616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pt-BR" noProof="0" dirty="0"/>
              <a:t>IMEDIATA</a:t>
            </a:r>
            <a:br>
              <a:rPr lang="pt-BR" noProof="0" dirty="0"/>
            </a:br>
            <a:r>
              <a:rPr lang="pt-BR" noProof="0" dirty="0"/>
              <a:t>0–30 dias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5661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</a:t>
            </a:r>
            <a:r>
              <a:rPr lang="pt-BR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Onboarding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digital nos primeiros 90 dias</a:t>
            </a:r>
          </a:p>
          <a:p>
            <a:pPr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Oferecer upgrade de cobertura com desconto para clientes Básicos em risco;</a:t>
            </a:r>
          </a:p>
          <a:p>
            <a:pPr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Reavaliar a carteira pelo Modelo de Regressão Logística proposto;</a:t>
            </a:r>
          </a:p>
          <a:p>
            <a:pPr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Recuperar 410 apólices suspensas (R$ 993k);</a:t>
            </a:r>
          </a:p>
          <a:p>
            <a:pPr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Campanha de retenção nas 65.730 apólices de alto risco;</a:t>
            </a:r>
          </a:p>
          <a:p>
            <a:pPr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Foco no ramo Auto (80% do gap).</a:t>
            </a:r>
          </a:p>
          <a:p>
            <a:pPr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endParaRPr lang="pt-BR" noProof="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56616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pt-BR" noProof="0" dirty="0"/>
              <a:t>ESTRUTURAL</a:t>
            </a:r>
            <a:br>
              <a:rPr lang="pt-BR" noProof="0" dirty="0"/>
            </a:br>
            <a:r>
              <a:rPr lang="pt-BR" noProof="0" dirty="0"/>
              <a:t>1–6 meses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endParaRPr lang="pt-BR" noProof="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Lançar programa de </a:t>
            </a:r>
            <a:r>
              <a:rPr lang="pt-BR" noProof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cross-sell</a:t>
            </a: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direcionado para clientes com 1 única apólice;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Criar KPI de </a:t>
            </a:r>
            <a:r>
              <a:rPr lang="pt-BR" noProof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no dashboard de metas mensal de cada canal;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Migrar contratos semestrais para 24 meses (-2,8 </a:t>
            </a:r>
            <a:r>
              <a:rPr lang="pt-BR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p.p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. </a:t>
            </a:r>
            <a:r>
              <a:rPr lang="pt-BR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);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Programa de fidelização para clientes 0–12 meses;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Criar régua de comunicação ativa no 4º mês de vigência (ponto crítico);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Migrar pagamentos de boleto para débito automático com benefício.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endParaRPr lang="pt-BR" noProof="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pt-BR" noProof="0" dirty="0"/>
              <a:t>ANALÍTICA</a:t>
            </a:r>
            <a:br>
              <a:rPr lang="pt-BR" noProof="0" dirty="0"/>
            </a:br>
            <a:r>
              <a:rPr lang="pt-BR" noProof="0" dirty="0"/>
              <a:t>6–12 meses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5661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Enriquecer a base para um novo processamento do Modelo explicativo de Regressão Logística: sinistralidade, renda, NPS, geoeconômico;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Modelagem de Sobrevivência (Kaplan-Meier / Cox) – Quanto tempo para o </a:t>
            </a:r>
            <a:r>
              <a:rPr lang="pt-BR" noProof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ao invés de se chega ao </a:t>
            </a:r>
            <a:r>
              <a:rPr lang="pt-BR" noProof="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churn</a:t>
            </a: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;</a:t>
            </a:r>
          </a:p>
          <a:p>
            <a:pPr algn="just">
              <a:spcAft>
                <a:spcPts val="1400"/>
              </a:spcAft>
              <a:defRPr sz="1300">
                <a:solidFill>
                  <a:srgbClr val="00204F"/>
                </a:solidFill>
              </a:defRPr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▸ Desenvolver um modelo similar de propensão à renovação (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na base, </a:t>
            </a: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77.927 apólices vencidas).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4D542B8-E370-E348-F0C0-DD2AAD1CB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675" y="1"/>
            <a:ext cx="1457020" cy="819008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B2414C4D-E51A-B05E-3D0D-3E9312231FCB}"/>
              </a:ext>
            </a:extLst>
          </p:cNvPr>
          <p:cNvSpPr txBox="1"/>
          <p:nvPr/>
        </p:nvSpPr>
        <p:spPr>
          <a:xfrm>
            <a:off x="6705600" y="659639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Segoe UI"/>
              </a:defRPr>
            </a:pP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Seguradora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·  MBA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Data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4  · 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Squad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23  ·  Maio/2026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08503D-40F2-026F-BE88-6E9FE39B8C64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gradFill flip="none" rotWithShape="1">
            <a:gsLst>
              <a:gs pos="0">
                <a:srgbClr val="009EEC"/>
              </a:gs>
              <a:gs pos="85000">
                <a:srgbClr val="01214F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pt-BR" noProof="0" dirty="0"/>
              <a:t>Modelo Explicativo/Preditivo de Regressão Logística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" y="6252210"/>
            <a:ext cx="52292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Segoe UI"/>
              </a:defRPr>
            </a:pP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Nota: Com enriquecimento da base (sinistralidade, renda, NPS, etc.), o mesmo modelo alcançaria desempenho significativamente superior, mantendo 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interpretabilidade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executiva.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22B54AE-BF96-F4AF-7A8A-3C7FB2699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675" y="1"/>
            <a:ext cx="1457020" cy="81900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BBFCCA9-E0D8-8617-E3FC-599BD935E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79" y="819010"/>
            <a:ext cx="6196029" cy="287372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30AEDF9-2F31-AD5E-D8FA-C62037CC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925" y="3425930"/>
            <a:ext cx="6695770" cy="3103164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23AE3B65-B1DE-07AA-7229-E6FEE7BEFBBD}"/>
              </a:ext>
            </a:extLst>
          </p:cNvPr>
          <p:cNvSpPr txBox="1"/>
          <p:nvPr/>
        </p:nvSpPr>
        <p:spPr>
          <a:xfrm>
            <a:off x="6410324" y="841618"/>
            <a:ext cx="5572125" cy="2569934"/>
          </a:xfrm>
          <a:prstGeom prst="rect">
            <a:avLst/>
          </a:prstGeom>
          <a:solidFill>
            <a:srgbClr val="01214F"/>
          </a:solidFill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pt-BR" sz="1150" noProof="0" dirty="0">
                <a:solidFill>
                  <a:srgbClr val="009EEC"/>
                </a:solidFill>
              </a:rPr>
              <a:t>O </a:t>
            </a:r>
            <a:r>
              <a:rPr lang="pt-BR" sz="1150" noProof="0" dirty="0">
                <a:solidFill>
                  <a:schemeClr val="bg1"/>
                </a:solidFill>
              </a:rPr>
              <a:t>Modelo de Regressão Logística</a:t>
            </a:r>
            <a:r>
              <a:rPr lang="pt-BR" sz="1150" noProof="0" dirty="0">
                <a:solidFill>
                  <a:srgbClr val="009EEC"/>
                </a:solidFill>
              </a:rPr>
              <a:t> não surpreende em nos dizer o que eleva ou reduz o </a:t>
            </a:r>
            <a:r>
              <a:rPr lang="pt-BR" sz="1150" noProof="0" dirty="0" err="1">
                <a:solidFill>
                  <a:srgbClr val="009EEC"/>
                </a:solidFill>
              </a:rPr>
              <a:t>Churn</a:t>
            </a:r>
            <a:r>
              <a:rPr lang="pt-BR" sz="1150" noProof="0" dirty="0">
                <a:solidFill>
                  <a:srgbClr val="009EEC"/>
                </a:solidFill>
              </a:rPr>
              <a:t>. Já temos uma boa ideia disso. No entanto, </a:t>
            </a:r>
            <a:r>
              <a:rPr lang="pt-BR" sz="1150" noProof="0" dirty="0">
                <a:solidFill>
                  <a:schemeClr val="bg1"/>
                </a:solidFill>
              </a:rPr>
              <a:t>sem o modelo nós não temos uma proporção de quanto pior ou melhor são os principais atributos do modelo em relação aos demais atributos</a:t>
            </a:r>
            <a:r>
              <a:rPr lang="pt-BR" sz="1150" noProof="0" dirty="0">
                <a:solidFill>
                  <a:srgbClr val="009EEC"/>
                </a:solidFill>
              </a:rPr>
              <a:t>.</a:t>
            </a:r>
          </a:p>
          <a:p>
            <a:pPr algn="just">
              <a:buNone/>
            </a:pPr>
            <a:endParaRPr lang="pt-BR" sz="1150" dirty="0">
              <a:solidFill>
                <a:srgbClr val="009EEC"/>
              </a:solidFill>
            </a:endParaRPr>
          </a:p>
          <a:p>
            <a:pPr algn="just">
              <a:buNone/>
            </a:pPr>
            <a:r>
              <a:rPr lang="pt-BR" sz="1150" noProof="0" dirty="0">
                <a:solidFill>
                  <a:srgbClr val="009EEC"/>
                </a:solidFill>
              </a:rPr>
              <a:t>Com um forte rigor estatístico, </a:t>
            </a:r>
            <a:r>
              <a:rPr lang="pt-BR" sz="1150" noProof="0" dirty="0">
                <a:solidFill>
                  <a:schemeClr val="bg1"/>
                </a:solidFill>
              </a:rPr>
              <a:t>este modelo nos permite ver o quanto ser de uma categoria ou valor puro eleva ou reduz a chance da ocorrência do cancelamento voluntário real</a:t>
            </a:r>
            <a:r>
              <a:rPr lang="pt-BR" sz="1150" noProof="0" dirty="0">
                <a:solidFill>
                  <a:srgbClr val="009EEC"/>
                </a:solidFill>
              </a:rPr>
              <a:t>.</a:t>
            </a:r>
          </a:p>
          <a:p>
            <a:pPr algn="just">
              <a:buNone/>
            </a:pPr>
            <a:endParaRPr lang="pt-BR" sz="1150" dirty="0">
              <a:solidFill>
                <a:srgbClr val="009EEC"/>
              </a:solidFill>
            </a:endParaRPr>
          </a:p>
          <a:p>
            <a:pPr algn="just">
              <a:buNone/>
            </a:pPr>
            <a:r>
              <a:rPr lang="pt-BR" sz="1150" noProof="0" dirty="0">
                <a:solidFill>
                  <a:srgbClr val="009EEC"/>
                </a:solidFill>
              </a:rPr>
              <a:t>Especialmente </a:t>
            </a:r>
            <a:r>
              <a:rPr lang="pt-BR" sz="1150" noProof="0" dirty="0">
                <a:solidFill>
                  <a:schemeClr val="bg1"/>
                </a:solidFill>
              </a:rPr>
              <a:t>podendo comparar esta redução ou elevação em relação a outras categorias ou valores puros</a:t>
            </a:r>
            <a:r>
              <a:rPr lang="pt-BR" sz="1150" noProof="0" dirty="0">
                <a:solidFill>
                  <a:srgbClr val="009EEC"/>
                </a:solidFill>
              </a:rPr>
              <a:t>.</a:t>
            </a:r>
          </a:p>
          <a:p>
            <a:pPr algn="just">
              <a:buNone/>
            </a:pPr>
            <a:endParaRPr lang="pt-BR" sz="1150" dirty="0">
              <a:solidFill>
                <a:srgbClr val="009EEC"/>
              </a:solidFill>
            </a:endParaRPr>
          </a:p>
          <a:p>
            <a:pPr algn="just">
              <a:buNone/>
            </a:pPr>
            <a:r>
              <a:rPr lang="pt-BR" sz="1150" noProof="0" dirty="0">
                <a:solidFill>
                  <a:schemeClr val="accent6"/>
                </a:solidFill>
              </a:rPr>
              <a:t>Obs.: A </a:t>
            </a:r>
            <a:r>
              <a:rPr lang="pt-BR" sz="1150" noProof="0" dirty="0">
                <a:solidFill>
                  <a:schemeClr val="bg1"/>
                </a:solidFill>
              </a:rPr>
              <a:t>Razão de Chances</a:t>
            </a:r>
            <a:r>
              <a:rPr lang="pt-BR" sz="1150" noProof="0" dirty="0">
                <a:solidFill>
                  <a:schemeClr val="accent6"/>
                </a:solidFill>
              </a:rPr>
              <a:t> ao lado mostra quanto uma determinada característica potencializa ou reduz a probabilidade de ocorrência do </a:t>
            </a:r>
            <a:r>
              <a:rPr lang="pt-BR" sz="1150" noProof="0" dirty="0" err="1">
                <a:solidFill>
                  <a:schemeClr val="accent6"/>
                </a:solidFill>
              </a:rPr>
              <a:t>churn</a:t>
            </a:r>
            <a:r>
              <a:rPr lang="pt-BR" sz="1150" noProof="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FBFF63C-D378-FC36-815D-1E3AA64370DA}"/>
              </a:ext>
            </a:extLst>
          </p:cNvPr>
          <p:cNvSpPr txBox="1"/>
          <p:nvPr/>
        </p:nvSpPr>
        <p:spPr>
          <a:xfrm>
            <a:off x="104775" y="3721492"/>
            <a:ext cx="5229225" cy="2492990"/>
          </a:xfrm>
          <a:prstGeom prst="rect">
            <a:avLst/>
          </a:prstGeom>
          <a:solidFill>
            <a:srgbClr val="01214F"/>
          </a:solidFill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pt-BR" sz="1200" noProof="0" dirty="0">
                <a:solidFill>
                  <a:srgbClr val="009EEC"/>
                </a:solidFill>
              </a:rPr>
              <a:t>De outra maneira, o </a:t>
            </a:r>
            <a:r>
              <a:rPr lang="pt-BR" sz="1200" noProof="0" dirty="0">
                <a:solidFill>
                  <a:schemeClr val="bg1"/>
                </a:solidFill>
              </a:rPr>
              <a:t>Modelo de Regressão Logística</a:t>
            </a:r>
            <a:r>
              <a:rPr lang="pt-BR" sz="1200" noProof="0" dirty="0">
                <a:solidFill>
                  <a:srgbClr val="009EEC"/>
                </a:solidFill>
              </a:rPr>
              <a:t> nos permite encontrar mais facilmente os clientes mais propensos ao </a:t>
            </a:r>
            <a:r>
              <a:rPr lang="pt-BR" sz="1200" noProof="0" dirty="0" err="1">
                <a:solidFill>
                  <a:srgbClr val="009EEC"/>
                </a:solidFill>
              </a:rPr>
              <a:t>Churn</a:t>
            </a:r>
            <a:r>
              <a:rPr lang="pt-BR" sz="1200" noProof="0" dirty="0">
                <a:solidFill>
                  <a:srgbClr val="009EEC"/>
                </a:solidFill>
              </a:rPr>
              <a:t>. É o que chamamos de </a:t>
            </a:r>
            <a:r>
              <a:rPr lang="pt-BR" sz="1200" noProof="0" dirty="0" err="1">
                <a:solidFill>
                  <a:srgbClr val="009EEC"/>
                </a:solidFill>
              </a:rPr>
              <a:t>Lift</a:t>
            </a:r>
            <a:r>
              <a:rPr lang="pt-BR" sz="1200" noProof="0" dirty="0">
                <a:solidFill>
                  <a:srgbClr val="009EEC"/>
                </a:solidFill>
              </a:rPr>
              <a:t>. Novamente dividindo a base aleatorizada para um teste independente em 10 grupos de tamanho aproximadamente igual... Ao invés de abordar aleatoriamente um volume dos clientes...</a:t>
            </a:r>
          </a:p>
          <a:p>
            <a:pPr algn="just">
              <a:buNone/>
            </a:pPr>
            <a:endParaRPr lang="pt-BR" sz="1200" dirty="0">
              <a:solidFill>
                <a:srgbClr val="009EEC"/>
              </a:solidFill>
            </a:endParaRPr>
          </a:p>
          <a:p>
            <a:pPr algn="just">
              <a:buNone/>
            </a:pPr>
            <a:r>
              <a:rPr lang="pt-BR" sz="1200" noProof="0" dirty="0">
                <a:solidFill>
                  <a:srgbClr val="009EEC"/>
                </a:solidFill>
              </a:rPr>
              <a:t>Se o time de retenção conseguir </a:t>
            </a:r>
            <a:r>
              <a:rPr lang="pt-BR" sz="1200" noProof="0" dirty="0">
                <a:solidFill>
                  <a:schemeClr val="bg1"/>
                </a:solidFill>
              </a:rPr>
              <a:t>abordar 10% da base (D10)</a:t>
            </a:r>
            <a:r>
              <a:rPr lang="pt-BR" sz="1200" noProof="0" dirty="0">
                <a:solidFill>
                  <a:srgbClr val="009EEC"/>
                </a:solidFill>
              </a:rPr>
              <a:t>, o modelo </a:t>
            </a:r>
            <a:r>
              <a:rPr lang="pt-BR" sz="1200" noProof="0" dirty="0">
                <a:solidFill>
                  <a:schemeClr val="bg1"/>
                </a:solidFill>
              </a:rPr>
              <a:t>captura 15,6% de todos os </a:t>
            </a:r>
            <a:r>
              <a:rPr lang="pt-BR" sz="1200" noProof="0" dirty="0" err="1">
                <a:solidFill>
                  <a:schemeClr val="bg1"/>
                </a:solidFill>
              </a:rPr>
              <a:t>churns</a:t>
            </a:r>
            <a:r>
              <a:rPr lang="pt-BR" sz="1200" noProof="0" dirty="0">
                <a:solidFill>
                  <a:schemeClr val="bg1"/>
                </a:solidFill>
              </a:rPr>
              <a:t> nestes 10% da base</a:t>
            </a:r>
            <a:r>
              <a:rPr lang="pt-BR" sz="1200" noProof="0" dirty="0">
                <a:solidFill>
                  <a:srgbClr val="009EEC"/>
                </a:solidFill>
              </a:rPr>
              <a:t>. É </a:t>
            </a:r>
            <a:r>
              <a:rPr lang="pt-BR" sz="1200" noProof="0" dirty="0">
                <a:solidFill>
                  <a:schemeClr val="bg1"/>
                </a:solidFill>
              </a:rPr>
              <a:t>1,564 vezes mais eficiente</a:t>
            </a:r>
            <a:r>
              <a:rPr lang="pt-BR" sz="1200" noProof="0" dirty="0">
                <a:solidFill>
                  <a:srgbClr val="009EEC"/>
                </a:solidFill>
              </a:rPr>
              <a:t> do que a abordagem aleatória.</a:t>
            </a:r>
          </a:p>
          <a:p>
            <a:pPr algn="just">
              <a:buNone/>
            </a:pPr>
            <a:endParaRPr lang="pt-BR" sz="1200" dirty="0">
              <a:solidFill>
                <a:srgbClr val="009EEC"/>
              </a:solidFill>
            </a:endParaRPr>
          </a:p>
          <a:p>
            <a:pPr algn="just">
              <a:buNone/>
            </a:pPr>
            <a:r>
              <a:rPr lang="pt-BR" sz="1200" noProof="0" dirty="0">
                <a:solidFill>
                  <a:srgbClr val="009EEC"/>
                </a:solidFill>
              </a:rPr>
              <a:t>Se o time de retenção conseguir </a:t>
            </a:r>
            <a:r>
              <a:rPr lang="pt-BR" sz="1200" noProof="0" dirty="0">
                <a:solidFill>
                  <a:schemeClr val="bg1"/>
                </a:solidFill>
              </a:rPr>
              <a:t>abordar 20% da base (D9 + D10)</a:t>
            </a:r>
            <a:r>
              <a:rPr lang="pt-BR" sz="1200" noProof="0" dirty="0">
                <a:solidFill>
                  <a:srgbClr val="009EEC"/>
                </a:solidFill>
              </a:rPr>
              <a:t>, o modelo </a:t>
            </a:r>
            <a:r>
              <a:rPr lang="pt-BR" sz="1200" noProof="0" dirty="0">
                <a:solidFill>
                  <a:schemeClr val="bg1"/>
                </a:solidFill>
              </a:rPr>
              <a:t>captura 30,0% de todos os </a:t>
            </a:r>
            <a:r>
              <a:rPr lang="pt-BR" sz="1200" noProof="0" dirty="0" err="1">
                <a:solidFill>
                  <a:schemeClr val="bg1"/>
                </a:solidFill>
              </a:rPr>
              <a:t>churns</a:t>
            </a:r>
            <a:r>
              <a:rPr lang="pt-BR" sz="1200" noProof="0" dirty="0">
                <a:solidFill>
                  <a:schemeClr val="bg1"/>
                </a:solidFill>
              </a:rPr>
              <a:t> nestes 20% da base</a:t>
            </a:r>
            <a:r>
              <a:rPr lang="pt-BR" sz="1200" noProof="0" dirty="0">
                <a:solidFill>
                  <a:srgbClr val="009EEC"/>
                </a:solidFill>
              </a:rPr>
              <a:t>. É </a:t>
            </a:r>
            <a:r>
              <a:rPr lang="pt-BR" sz="1200" noProof="0" dirty="0">
                <a:solidFill>
                  <a:schemeClr val="bg1"/>
                </a:solidFill>
              </a:rPr>
              <a:t>1,451 vezes mais eficiente</a:t>
            </a:r>
            <a:r>
              <a:rPr lang="pt-BR" sz="1200" noProof="0" dirty="0">
                <a:solidFill>
                  <a:srgbClr val="009EEC"/>
                </a:solidFill>
              </a:rPr>
              <a:t> do que a abordagem aleatória.</a:t>
            </a:r>
            <a:endParaRPr lang="pt-BR" sz="1200" noProof="0" dirty="0">
              <a:solidFill>
                <a:schemeClr val="accent6"/>
              </a:solidFill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BFF9E0D9-DB49-C46F-A5DC-2D3DFE5D768A}"/>
              </a:ext>
            </a:extLst>
          </p:cNvPr>
          <p:cNvSpPr txBox="1"/>
          <p:nvPr/>
        </p:nvSpPr>
        <p:spPr>
          <a:xfrm>
            <a:off x="6705600" y="659639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Segoe UI"/>
              </a:defRPr>
            </a:pP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Seguradora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·  MBA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Xperiun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Data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4  ·  </a:t>
            </a:r>
            <a:r>
              <a:rPr lang="pt-BR" sz="1100" noProof="0" dirty="0" err="1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Squad</a:t>
            </a:r>
            <a:r>
              <a:rPr lang="pt-BR" sz="1100" noProof="0" dirty="0">
                <a:solidFill>
                  <a:srgbClr val="01214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23  ·  Maio/2026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1211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Bruno Cesar Pasquini</dc:creator>
  <cp:keywords/>
  <dc:description>generated using python-pptx</dc:description>
  <cp:lastModifiedBy>Bruno Pasquini</cp:lastModifiedBy>
  <cp:revision>12</cp:revision>
  <dcterms:created xsi:type="dcterms:W3CDTF">2013-01-27T09:14:16Z</dcterms:created>
  <dcterms:modified xsi:type="dcterms:W3CDTF">2026-05-05T02:18:46Z</dcterms:modified>
  <cp:category/>
</cp:coreProperties>
</file>